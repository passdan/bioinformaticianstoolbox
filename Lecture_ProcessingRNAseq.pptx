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7" r:id="rId16"/>
    <p:sldId id="266" r:id="rId1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2.xml"/><Relationship Id="rId16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2be79158c21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" name="Google Shape;38;g2be79158c21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be79158c21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be79158c2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be79158c21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be79158c2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0e9a86bacc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0e9a86bac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github.com/alexdobin/STAR" TargetMode="External"/><Relationship Id="rId4" Type="http://schemas.openxmlformats.org/officeDocument/2006/relationships/hyperlink" Target="https://doi.org/10.1093/bioinformatics/bts635" TargetMode="External"/><Relationship Id="rId5" Type="http://schemas.openxmlformats.org/officeDocument/2006/relationships/image" Target="../media/image14.jpg"/><Relationship Id="rId6" Type="http://schemas.openxmlformats.org/officeDocument/2006/relationships/image" Target="../media/image8.png"/><Relationship Id="rId7" Type="http://schemas.openxmlformats.org/officeDocument/2006/relationships/image" Target="../media/image13.png"/><Relationship Id="rId8" Type="http://schemas.openxmlformats.org/officeDocument/2006/relationships/image" Target="../media/image1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hyperlink" Target="https://plants.ensembl.org/info/website/ftp/index.html" TargetMode="External"/><Relationship Id="rId5" Type="http://schemas.openxmlformats.org/officeDocument/2006/relationships/image" Target="../media/image1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6.png"/><Relationship Id="rId5" Type="http://schemas.openxmlformats.org/officeDocument/2006/relationships/image" Target="../media/image1.png"/><Relationship Id="rId6" Type="http://schemas.openxmlformats.org/officeDocument/2006/relationships/hyperlink" Target="https://broadinstitute.github.io/picard/explain-flags.html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subread.sourceforge.net/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20.png"/><Relationship Id="rId5" Type="http://schemas.openxmlformats.org/officeDocument/2006/relationships/image" Target="../media/image22.png"/><Relationship Id="rId6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1" y="0"/>
            <a:ext cx="4234905" cy="4562780"/>
          </a:xfrm>
          <a:prstGeom prst="rect">
            <a:avLst/>
          </a:prstGeom>
          <a:gradFill>
            <a:gsLst>
              <a:gs pos="0">
                <a:srgbClr val="4472C3">
                  <a:alpha val="81960"/>
                </a:srgbClr>
              </a:gs>
              <a:gs pos="25000">
                <a:srgbClr val="4472C4">
                  <a:alpha val="60000"/>
                </a:srgbClr>
              </a:gs>
              <a:gs pos="94000">
                <a:srgbClr val="AEABAB"/>
              </a:gs>
              <a:gs pos="100000">
                <a:srgbClr val="AEABAB"/>
              </a:gs>
            </a:gsLst>
            <a:lin ang="4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4234906" y="0"/>
            <a:ext cx="7956409" cy="6858000"/>
          </a:xfrm>
          <a:prstGeom prst="rect">
            <a:avLst/>
          </a:prstGeom>
          <a:gradFill>
            <a:gsLst>
              <a:gs pos="0">
                <a:srgbClr val="4472C3">
                  <a:alpha val="81960"/>
                </a:srgbClr>
              </a:gs>
              <a:gs pos="25000">
                <a:srgbClr val="4472C4">
                  <a:alpha val="60000"/>
                </a:srgbClr>
              </a:gs>
              <a:gs pos="94000">
                <a:srgbClr val="AEABAB"/>
              </a:gs>
              <a:gs pos="100000">
                <a:srgbClr val="AEABAB"/>
              </a:gs>
            </a:gsLst>
            <a:lin ang="4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" name="Google Shape;2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 txBox="1"/>
          <p:nvPr>
            <p:ph type="ctrTitle"/>
          </p:nvPr>
        </p:nvSpPr>
        <p:spPr>
          <a:xfrm>
            <a:off x="512761" y="4394091"/>
            <a:ext cx="6438546" cy="18377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40"/>
              <a:buFont typeface="Calibri"/>
              <a:buNone/>
            </a:pPr>
            <a:r>
              <a:rPr b="1" lang="en-GB" sz="5940">
                <a:solidFill>
                  <a:srgbClr val="000000"/>
                </a:solidFill>
              </a:rPr>
              <a:t>Processing RNAseq </a:t>
            </a:r>
            <a:r>
              <a:rPr b="1" lang="en-GB" sz="3840">
                <a:solidFill>
                  <a:srgbClr val="000000"/>
                </a:solidFill>
              </a:rPr>
              <a:t>(with reference genomes)</a:t>
            </a:r>
            <a:endParaRPr b="1" sz="3840">
              <a:solidFill>
                <a:srgbClr val="000000"/>
              </a:solidFill>
            </a:endParaRPr>
          </a:p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568061" y="5625769"/>
            <a:ext cx="5595803" cy="81200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GB">
                <a:solidFill>
                  <a:srgbClr val="000000"/>
                </a:solidFill>
              </a:rPr>
              <a:t>Dr Daniel Pass</a:t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-684" y="2"/>
            <a:ext cx="3799103" cy="3822917"/>
          </a:xfrm>
          <a:custGeom>
            <a:rect b="b" l="l" r="r" t="t"/>
            <a:pathLst>
              <a:path extrusionOk="0" h="3822917" w="3799103">
                <a:moveTo>
                  <a:pt x="370922" y="0"/>
                </a:moveTo>
                <a:lnTo>
                  <a:pt x="2961741" y="0"/>
                </a:lnTo>
                <a:lnTo>
                  <a:pt x="3023310" y="46041"/>
                </a:lnTo>
                <a:cubicBezTo>
                  <a:pt x="3497106" y="437052"/>
                  <a:pt x="3799103" y="1028796"/>
                  <a:pt x="3799103" y="1691074"/>
                </a:cubicBezTo>
                <a:cubicBezTo>
                  <a:pt x="3799103" y="2868458"/>
                  <a:pt x="2844644" y="3822917"/>
                  <a:pt x="1667260" y="3822917"/>
                </a:cubicBezTo>
                <a:cubicBezTo>
                  <a:pt x="1004982" y="3822917"/>
                  <a:pt x="413238" y="3520920"/>
                  <a:pt x="22227" y="3047124"/>
                </a:cubicBezTo>
                <a:lnTo>
                  <a:pt x="0" y="3017401"/>
                </a:lnTo>
                <a:lnTo>
                  <a:pt x="0" y="364747"/>
                </a:lnTo>
                <a:lnTo>
                  <a:pt x="22227" y="335024"/>
                </a:lnTo>
                <a:cubicBezTo>
                  <a:pt x="119980" y="216575"/>
                  <a:pt x="230278" y="108864"/>
                  <a:pt x="351088" y="1392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7881589" y="2057400"/>
            <a:ext cx="4310411" cy="4800600"/>
          </a:xfrm>
          <a:custGeom>
            <a:rect b="b" l="l" r="r" t="t"/>
            <a:pathLst>
              <a:path extrusionOk="0" h="4656219" w="4180773">
                <a:moveTo>
                  <a:pt x="2631284" y="0"/>
                </a:moveTo>
                <a:cubicBezTo>
                  <a:pt x="3176241" y="0"/>
                  <a:pt x="3682504" y="165666"/>
                  <a:pt x="4102460" y="449382"/>
                </a:cubicBezTo>
                <a:lnTo>
                  <a:pt x="4180773" y="507944"/>
                </a:lnTo>
                <a:lnTo>
                  <a:pt x="4180773" y="4656219"/>
                </a:lnTo>
                <a:lnTo>
                  <a:pt x="951501" y="4656219"/>
                </a:lnTo>
                <a:lnTo>
                  <a:pt x="770685" y="4491883"/>
                </a:lnTo>
                <a:cubicBezTo>
                  <a:pt x="294517" y="4015714"/>
                  <a:pt x="0" y="3357893"/>
                  <a:pt x="0" y="2631284"/>
                </a:cubicBezTo>
                <a:cubicBezTo>
                  <a:pt x="0" y="1178066"/>
                  <a:pt x="1178066" y="0"/>
                  <a:pt x="2631284" y="0"/>
                </a:cubicBez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B3C6E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497624" y="0"/>
            <a:ext cx="3383280" cy="2942512"/>
          </a:xfrm>
          <a:custGeom>
            <a:rect b="b" l="l" r="r" t="t"/>
            <a:pathLst>
              <a:path extrusionOk="0" h="2942512" w="3383280">
                <a:moveTo>
                  <a:pt x="555657" y="0"/>
                </a:moveTo>
                <a:lnTo>
                  <a:pt x="2827623" y="0"/>
                </a:lnTo>
                <a:lnTo>
                  <a:pt x="2887810" y="54702"/>
                </a:lnTo>
                <a:cubicBezTo>
                  <a:pt x="3193937" y="360829"/>
                  <a:pt x="3383280" y="783739"/>
                  <a:pt x="3383280" y="1250872"/>
                </a:cubicBezTo>
                <a:cubicBezTo>
                  <a:pt x="3383280" y="2185139"/>
                  <a:pt x="2625907" y="2942512"/>
                  <a:pt x="1691640" y="2942512"/>
                </a:cubicBezTo>
                <a:cubicBezTo>
                  <a:pt x="757373" y="2942512"/>
                  <a:pt x="0" y="2185139"/>
                  <a:pt x="0" y="1250872"/>
                </a:cubicBezTo>
                <a:cubicBezTo>
                  <a:pt x="0" y="783739"/>
                  <a:pt x="189344" y="360829"/>
                  <a:pt x="495470" y="54702"/>
                </a:cubicBez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B3C6E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" name="Google Shape;35;p4"/>
          <p:cNvPicPr preferRelativeResize="0"/>
          <p:nvPr/>
        </p:nvPicPr>
        <p:blipFill rotWithShape="1">
          <a:blip r:embed="rId4">
            <a:alphaModFix/>
          </a:blip>
          <a:srcRect b="4856" l="10307" r="4374" t="6283"/>
          <a:stretch/>
        </p:blipFill>
        <p:spPr>
          <a:xfrm>
            <a:off x="-1369" y="-99648"/>
            <a:ext cx="3613213" cy="3767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5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" name="Google Shape;42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9475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5"/>
          <p:cNvSpPr/>
          <p:nvPr/>
        </p:nvSpPr>
        <p:spPr>
          <a:xfrm>
            <a:off x="643700" y="1641975"/>
            <a:ext cx="6423300" cy="511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4" name="Google Shape;44;p5"/>
          <p:cNvGrpSpPr/>
          <p:nvPr/>
        </p:nvGrpSpPr>
        <p:grpSpPr>
          <a:xfrm>
            <a:off x="5329400" y="4451300"/>
            <a:ext cx="2059200" cy="2102450"/>
            <a:chOff x="5329400" y="4451300"/>
            <a:chExt cx="2059200" cy="2102450"/>
          </a:xfrm>
        </p:grpSpPr>
        <p:pic>
          <p:nvPicPr>
            <p:cNvPr id="45" name="Google Shape;45;p5"/>
            <p:cNvPicPr preferRelativeResize="0"/>
            <p:nvPr/>
          </p:nvPicPr>
          <p:blipFill rotWithShape="1">
            <a:blip r:embed="rId3">
              <a:alphaModFix/>
            </a:blip>
            <a:srcRect b="79076" l="22272" r="64007" t="5413"/>
            <a:stretch/>
          </p:blipFill>
          <p:spPr>
            <a:xfrm>
              <a:off x="5716875" y="4451300"/>
              <a:ext cx="1254674" cy="1063749"/>
            </a:xfrm>
            <a:prstGeom prst="rect">
              <a:avLst/>
            </a:prstGeom>
            <a:noFill/>
            <a:ln cap="flat" cmpd="sng" w="1143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46" name="Google Shape;46;p5"/>
            <p:cNvSpPr txBox="1"/>
            <p:nvPr/>
          </p:nvSpPr>
          <p:spPr>
            <a:xfrm>
              <a:off x="5329400" y="5507050"/>
              <a:ext cx="2059200" cy="10467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Unmapped</a:t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reads</a:t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" name="Google Shape;47;p5"/>
          <p:cNvSpPr/>
          <p:nvPr/>
        </p:nvSpPr>
        <p:spPr>
          <a:xfrm>
            <a:off x="6247146" y="1963006"/>
            <a:ext cx="1908575" cy="2379175"/>
          </a:xfrm>
          <a:custGeom>
            <a:rect b="b" l="l" r="r" t="t"/>
            <a:pathLst>
              <a:path extrusionOk="0" h="95167" w="76343">
                <a:moveTo>
                  <a:pt x="6610" y="95168"/>
                </a:moveTo>
                <a:cubicBezTo>
                  <a:pt x="3080" y="66952"/>
                  <a:pt x="-8982" y="28575"/>
                  <a:pt x="12610" y="10070"/>
                </a:cubicBezTo>
                <a:cubicBezTo>
                  <a:pt x="23931" y="367"/>
                  <a:pt x="41391" y="1488"/>
                  <a:pt x="56250" y="251"/>
                </a:cubicBezTo>
                <a:cubicBezTo>
                  <a:pt x="62274" y="-251"/>
                  <a:pt x="68254" y="1683"/>
                  <a:pt x="74252" y="2433"/>
                </a:cubicBezTo>
                <a:cubicBezTo>
                  <a:pt x="75154" y="2546"/>
                  <a:pt x="76798" y="4615"/>
                  <a:pt x="75889" y="4615"/>
                </a:cubicBezTo>
              </a:path>
            </a:pathLst>
          </a:custGeom>
          <a:noFill/>
          <a:ln cap="flat" cmpd="sng" w="2286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  <p:txBody>
          <a:bodyPr/>
          <a:p/>
        </p:txBody>
      </p:sp>
      <p:sp>
        <p:nvSpPr>
          <p:cNvPr id="48" name="Google Shape;48;p5"/>
          <p:cNvSpPr/>
          <p:nvPr/>
        </p:nvSpPr>
        <p:spPr>
          <a:xfrm>
            <a:off x="5501075" y="1641975"/>
            <a:ext cx="6423300" cy="511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5261200" y="3602050"/>
            <a:ext cx="6891900" cy="3306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6"/>
          <p:cNvSpPr/>
          <p:nvPr/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0" y="1690688"/>
            <a:ext cx="12192000" cy="516636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400"/>
              <a:buFont typeface="Calibri"/>
              <a:buNone/>
            </a:pPr>
            <a:r>
              <a:rPr lang="en-GB">
                <a:solidFill>
                  <a:srgbClr val="FEFEFE"/>
                </a:solidFill>
              </a:rPr>
              <a:t>Process</a:t>
            </a:r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868680" y="2194560"/>
            <a:ext cx="3108960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050" b="1">
                <a:solidFill>
                  <a:srgbClr val="1F4E79"/>
                </a:solidFill>
                <a:latin typeface="Calibri"/>
              </a:rPr>
              <a:t>Route 1 — genome alignment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68680" y="2468880"/>
            <a:ext cx="2880360" cy="1234440"/>
          </a:xfrm>
          <a:prstGeom prst="roundRect">
            <a:avLst/>
          </a:prstGeom>
          <a:solidFill>
            <a:srgbClr val="F7D5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>
                <a:solidFill>
                  <a:srgbClr val="1F4E79"/>
                </a:solidFill>
                <a:latin typeface="Calibri"/>
              </a:rPr>
              <a:t>STAR / HiSAT2</a:t>
            </a:r>
          </a:p>
          <a:p>
            <a:pPr algn="ctr"/>
            <a:r>
              <a:rPr sz="1150" b="0">
                <a:solidFill>
                  <a:srgbClr val="333333"/>
                </a:solidFill>
                <a:latin typeface="Calibri"/>
              </a:rPr>
              <a:t>Align reads to the genome</a:t>
            </a:r>
          </a:p>
        </p:txBody>
      </p:sp>
      <p:sp>
        <p:nvSpPr>
          <p:cNvPr id="59" name="Chevron 58"/>
          <p:cNvSpPr/>
          <p:nvPr/>
        </p:nvSpPr>
        <p:spPr>
          <a:xfrm>
            <a:off x="3822191" y="2807208"/>
            <a:ext cx="457200" cy="548640"/>
          </a:xfrm>
          <a:prstGeom prst="chevron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4370832" y="2468880"/>
            <a:ext cx="2880360" cy="1234440"/>
          </a:xfrm>
          <a:prstGeom prst="round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>
                <a:solidFill>
                  <a:srgbClr val="1F4E79"/>
                </a:solidFill>
                <a:latin typeface="Calibri"/>
              </a:rPr>
              <a:t>featureCounts / htseq</a:t>
            </a:r>
          </a:p>
          <a:p>
            <a:pPr algn="ctr"/>
            <a:r>
              <a:rPr sz="1150" b="0">
                <a:solidFill>
                  <a:srgbClr val="333333"/>
                </a:solidFill>
                <a:latin typeface="Calibri"/>
              </a:rPr>
              <a:t>Count reads per gene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68680" y="3886200"/>
            <a:ext cx="3108960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050" b="1">
                <a:solidFill>
                  <a:srgbClr val="1F4E79"/>
                </a:solidFill>
                <a:latin typeface="Calibri"/>
              </a:rPr>
              <a:t>Route 2 — pseudo-alignment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68680" y="4160520"/>
            <a:ext cx="6382512" cy="1234440"/>
          </a:xfrm>
          <a:prstGeom prst="roundRect">
            <a:avLst/>
          </a:prstGeom>
          <a:solidFill>
            <a:srgbClr val="D7E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>
                <a:solidFill>
                  <a:srgbClr val="1F4E79"/>
                </a:solidFill>
                <a:latin typeface="Calibri"/>
              </a:rPr>
              <a:t>Salmon / kallisto   (pseudo-alignment)</a:t>
            </a:r>
          </a:p>
          <a:p>
            <a:pPr algn="ctr"/>
            <a:r>
              <a:rPr sz="1150" b="0">
                <a:solidFill>
                  <a:srgbClr val="333333"/>
                </a:solidFill>
                <a:latin typeface="Calibri"/>
              </a:rPr>
              <a:t>Map to transcriptome &amp; quantify in one step — no BAM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275320" y="2971800"/>
            <a:ext cx="3017520" cy="1783080"/>
          </a:xfrm>
          <a:prstGeom prst="roundRect">
            <a:avLst/>
          </a:prstGeom>
          <a:solidFill>
            <a:srgbClr val="FFE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1F4E79"/>
                </a:solidFill>
                <a:latin typeface="Calibri"/>
              </a:rPr>
              <a:t>DESeq2 / edgeR</a:t>
            </a:r>
          </a:p>
          <a:p>
            <a:pPr algn="ctr"/>
            <a:r>
              <a:rPr sz="1150" b="0">
                <a:solidFill>
                  <a:srgbClr val="333333"/>
                </a:solidFill>
                <a:latin typeface="Calibri"/>
              </a:rPr>
              <a:t>Differential gene
expression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7269480" y="3081528"/>
            <a:ext cx="987551" cy="530352"/>
          </a:xfrm>
          <a:prstGeom prst="line">
            <a:avLst/>
          </a:prstGeom>
          <a:ln w="31750">
            <a:solidFill>
              <a:srgbClr val="9A9A9A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7269480" y="4160520"/>
            <a:ext cx="987551" cy="612648"/>
          </a:xfrm>
          <a:prstGeom prst="line">
            <a:avLst/>
          </a:prstGeom>
          <a:ln w="31750">
            <a:solidFill>
              <a:srgbClr val="9A9A9A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Alignment to a reference genome</a:t>
            </a:r>
            <a:endParaRPr/>
          </a:p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6" name="Google Shape;76;p7"/>
          <p:cNvPicPr preferRelativeResize="0"/>
          <p:nvPr/>
        </p:nvPicPr>
        <p:blipFill rotWithShape="1">
          <a:blip r:embed="rId3">
            <a:alphaModFix/>
          </a:blip>
          <a:srcRect b="23348" l="0" r="0" t="17393"/>
          <a:stretch/>
        </p:blipFill>
        <p:spPr>
          <a:xfrm>
            <a:off x="-66568" y="1690825"/>
            <a:ext cx="12325161" cy="4564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3" name="Google Shape;83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13" y="135546"/>
            <a:ext cx="11887199" cy="6586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9"/>
          <p:cNvSpPr txBox="1"/>
          <p:nvPr>
            <p:ph type="title"/>
          </p:nvPr>
        </p:nvSpPr>
        <p:spPr>
          <a:xfrm>
            <a:off x="5334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Alignment with Star</a:t>
            </a:r>
            <a:endParaRPr/>
          </a:p>
        </p:txBody>
      </p:sp>
      <p:sp>
        <p:nvSpPr>
          <p:cNvPr id="89" name="Google Shape;89;p9"/>
          <p:cNvSpPr txBox="1"/>
          <p:nvPr/>
        </p:nvSpPr>
        <p:spPr>
          <a:xfrm>
            <a:off x="585000" y="1559525"/>
            <a:ext cx="5769000" cy="38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Spliced Transcripts Alignment to a Reference (STAR)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https://github.com/alexdobin/STAR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Novel RNA-seq alignment algorithm that uses sequential maximum mappable seed search.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“STAR outperforms other aligners by a factor of &gt;50 in mapping speed”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Multimapping 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Combine reference genome (fasta), gene boundaries (gtf) and RNAseq (fastq)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9"/>
          <p:cNvSpPr txBox="1"/>
          <p:nvPr/>
        </p:nvSpPr>
        <p:spPr>
          <a:xfrm>
            <a:off x="163425" y="5904050"/>
            <a:ext cx="41700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Alexander Dobin, et. al, (2013), STAR: ultrafast universal RNA-seq aligner, </a:t>
            </a:r>
            <a:r>
              <a:rPr i="1" lang="en-GB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Bioinformatics</a:t>
            </a:r>
            <a:r>
              <a:rPr lang="en-GB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 </a:t>
            </a:r>
            <a:r>
              <a:rPr lang="en-GB" sz="11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https://doi.org/10.1093/bioinformatics/bts635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hematic representation of the Maximum Mappable Prefix search in the STAR algorithm for detecting (a) splice junctions, (b) mismatches and (c) tails" id="91" name="Google Shape;91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38240" y="617395"/>
            <a:ext cx="4953000" cy="374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91145" y="4450050"/>
            <a:ext cx="4460726" cy="240795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9"/>
          <p:cNvSpPr txBox="1"/>
          <p:nvPr/>
        </p:nvSpPr>
        <p:spPr>
          <a:xfrm>
            <a:off x="585000" y="4934500"/>
            <a:ext cx="5807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Alternatives: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Hisat2 (formerly Tophat), kallisto, Salmon, (many others)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4" name="Google Shape;94;p9"/>
          <p:cNvGrpSpPr/>
          <p:nvPr/>
        </p:nvGrpSpPr>
        <p:grpSpPr>
          <a:xfrm>
            <a:off x="6591150" y="559450"/>
            <a:ext cx="5600850" cy="3890600"/>
            <a:chOff x="6591150" y="559450"/>
            <a:chExt cx="5600850" cy="3890600"/>
          </a:xfrm>
        </p:grpSpPr>
        <p:pic>
          <p:nvPicPr>
            <p:cNvPr id="95" name="Google Shape;95;p9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6591150" y="1294900"/>
              <a:ext cx="5600850" cy="31551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" name="Google Shape;96;p9"/>
            <p:cNvSpPr txBox="1"/>
            <p:nvPr/>
          </p:nvSpPr>
          <p:spPr>
            <a:xfrm>
              <a:off x="8385500" y="559450"/>
              <a:ext cx="3363000" cy="70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700">
                  <a:latin typeface="Calibri"/>
                  <a:ea typeface="Calibri"/>
                  <a:cs typeface="Calibri"/>
                  <a:sym typeface="Calibri"/>
                </a:rPr>
                <a:t>d= default parameters</a:t>
              </a:r>
              <a:endParaRPr b="1" sz="1700"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700">
                  <a:latin typeface="Calibri"/>
                  <a:ea typeface="Calibri"/>
                  <a:cs typeface="Calibri"/>
                  <a:sym typeface="Calibri"/>
                </a:rPr>
                <a:t>t= trained on dataset</a:t>
              </a:r>
              <a:endParaRPr b="1" sz="17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7" name="Google Shape;97;p9"/>
          <p:cNvSpPr/>
          <p:nvPr/>
        </p:nvSpPr>
        <p:spPr>
          <a:xfrm>
            <a:off x="9881550" y="1282350"/>
            <a:ext cx="270300" cy="30783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8349300" y="1227325"/>
            <a:ext cx="270300" cy="30783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/>
        </p:nvSpPr>
        <p:spPr>
          <a:xfrm>
            <a:off x="150100" y="6283600"/>
            <a:ext cx="4727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30303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Baruzzo, Giacomo et al. (2017) “Simulation-based comprehensive benchmarking of RNA-seq aligners.” </a:t>
            </a:r>
            <a:r>
              <a:rPr i="1" lang="en-GB" sz="1100">
                <a:solidFill>
                  <a:srgbClr val="30303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Nature methods</a:t>
            </a:r>
            <a:r>
              <a:rPr lang="en-GB" sz="1100">
                <a:solidFill>
                  <a:srgbClr val="30303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100">
                <a:solidFill>
                  <a:srgbClr val="30303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doi:10.1038/nmeth.4106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191250" y="2019300"/>
            <a:ext cx="584835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0"/>
          <p:cNvSpPr txBox="1"/>
          <p:nvPr>
            <p:ph type="ctrTitle"/>
          </p:nvPr>
        </p:nvSpPr>
        <p:spPr>
          <a:xfrm>
            <a:off x="0" y="0"/>
            <a:ext cx="9144000" cy="12146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non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GB" sz="5000"/>
              <a:t>Ensembl reference databases</a:t>
            </a:r>
            <a:endParaRPr/>
          </a:p>
        </p:txBody>
      </p:sp>
      <p:sp>
        <p:nvSpPr>
          <p:cNvPr id="106" name="Google Shape;106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107" name="Google Shape;107;p10"/>
          <p:cNvPicPr preferRelativeResize="0"/>
          <p:nvPr/>
        </p:nvPicPr>
        <p:blipFill rotWithShape="1">
          <a:blip r:embed="rId3">
            <a:alphaModFix/>
          </a:blip>
          <a:srcRect b="0" l="0" r="0" t="27435"/>
          <a:stretch/>
        </p:blipFill>
        <p:spPr>
          <a:xfrm>
            <a:off x="277520" y="1339672"/>
            <a:ext cx="11469008" cy="272431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0"/>
          <p:cNvSpPr/>
          <p:nvPr/>
        </p:nvSpPr>
        <p:spPr>
          <a:xfrm>
            <a:off x="6591407" y="1029998"/>
            <a:ext cx="543264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https://plants.ensembl.org/info/website/ftp/index.html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" name="Google Shape;109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9273" y="4283173"/>
            <a:ext cx="11534775" cy="21812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0"/>
          <p:cNvSpPr/>
          <p:nvPr/>
        </p:nvSpPr>
        <p:spPr>
          <a:xfrm>
            <a:off x="9493525" y="1477114"/>
            <a:ext cx="855900" cy="24006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0"/>
          <p:cNvSpPr/>
          <p:nvPr/>
        </p:nvSpPr>
        <p:spPr>
          <a:xfrm>
            <a:off x="1732800" y="1501525"/>
            <a:ext cx="855900" cy="24006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0"/>
          <p:cNvSpPr txBox="1"/>
          <p:nvPr/>
        </p:nvSpPr>
        <p:spPr>
          <a:xfrm>
            <a:off x="2756975" y="3602050"/>
            <a:ext cx="1498800" cy="615600"/>
          </a:xfrm>
          <a:prstGeom prst="rect">
            <a:avLst/>
          </a:prstGeom>
          <a:solidFill>
            <a:srgbClr val="FFE599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Genome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0"/>
          <p:cNvSpPr txBox="1"/>
          <p:nvPr/>
        </p:nvSpPr>
        <p:spPr>
          <a:xfrm>
            <a:off x="7422275" y="3602050"/>
            <a:ext cx="1859400" cy="615600"/>
          </a:xfrm>
          <a:prstGeom prst="rect">
            <a:avLst/>
          </a:prstGeom>
          <a:solidFill>
            <a:srgbClr val="FFE599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Annotation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1"/>
          <p:cNvSpPr txBox="1"/>
          <p:nvPr>
            <p:ph type="title"/>
          </p:nvPr>
        </p:nvSpPr>
        <p:spPr>
          <a:xfrm>
            <a:off x="250371" y="25315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Output from alignment: bam/sam files</a:t>
            </a:r>
            <a:endParaRPr/>
          </a:p>
        </p:txBody>
      </p:sp>
      <p:pic>
        <p:nvPicPr>
          <p:cNvPr id="119" name="Google Shape;11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1985" y="1272002"/>
            <a:ext cx="6890535" cy="2282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2060" y="3046024"/>
            <a:ext cx="5247955" cy="3344214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1"/>
          <p:cNvSpPr txBox="1"/>
          <p:nvPr/>
        </p:nvSpPr>
        <p:spPr>
          <a:xfrm>
            <a:off x="7837714" y="2257717"/>
            <a:ext cx="321906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Optional step: Mark Duplicates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Picard</a:t>
            </a:r>
            <a:endParaRPr/>
          </a:p>
        </p:txBody>
      </p:sp>
      <p:pic>
        <p:nvPicPr>
          <p:cNvPr descr="Samtools guide: learning how to filter and manipulate with SAM/BAM ..." id="122" name="Google Shape;122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0371" y="3669485"/>
            <a:ext cx="6230782" cy="2730697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1"/>
          <p:cNvSpPr/>
          <p:nvPr/>
        </p:nvSpPr>
        <p:spPr>
          <a:xfrm>
            <a:off x="6817657" y="6400182"/>
            <a:ext cx="524795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https://broadinstitute.github.io/picard/explain-flags.html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2"/>
          <p:cNvSpPr txBox="1"/>
          <p:nvPr>
            <p:ph type="title"/>
          </p:nvPr>
        </p:nvSpPr>
        <p:spPr>
          <a:xfrm>
            <a:off x="184900" y="15377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Duplicates? Again?</a:t>
            </a:r>
            <a:endParaRPr/>
          </a:p>
        </p:txBody>
      </p:sp>
      <p:sp>
        <p:nvSpPr>
          <p:cNvPr id="129" name="Google Shape;129;p12"/>
          <p:cNvSpPr txBox="1"/>
          <p:nvPr>
            <p:ph idx="1" type="body"/>
          </p:nvPr>
        </p:nvSpPr>
        <p:spPr>
          <a:xfrm>
            <a:off x="285275" y="1320650"/>
            <a:ext cx="46122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600"/>
              <a:t>2026: </a:t>
            </a:r>
            <a:r>
              <a:rPr b="1" lang="en-GB" sz="2600"/>
              <a:t>Not </a:t>
            </a:r>
            <a:r>
              <a:rPr b="1" lang="en-GB" sz="2600"/>
              <a:t>recommended</a:t>
            </a:r>
            <a:r>
              <a:rPr b="1" lang="en-GB" sz="2600"/>
              <a:t> to remove</a:t>
            </a:r>
            <a:r>
              <a:rPr lang="en-GB" sz="2600"/>
              <a:t> unless you have specific concerns about your data. Can distort expression.</a:t>
            </a:r>
            <a:endParaRPr sz="2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600"/>
              <a:t>Technical Duplicates:</a:t>
            </a:r>
            <a:endParaRPr sz="2600"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-"/>
            </a:pPr>
            <a:r>
              <a:rPr lang="en-GB" sz="2600"/>
              <a:t>Identical start/ends/inserts</a:t>
            </a:r>
            <a:endParaRPr sz="2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-GB" sz="2600"/>
              <a:t>Perhaps slight differences in sequence</a:t>
            </a:r>
            <a:endParaRPr sz="2600"/>
          </a:p>
        </p:txBody>
      </p:sp>
      <p:pic>
        <p:nvPicPr>
          <p:cNvPr id="130" name="Google Shape;130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4625" y="200550"/>
            <a:ext cx="7208649" cy="341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7475" y="3574000"/>
            <a:ext cx="7095800" cy="253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3"/>
          <p:cNvSpPr txBox="1"/>
          <p:nvPr>
            <p:ph type="title"/>
          </p:nvPr>
        </p:nvSpPr>
        <p:spPr>
          <a:xfrm>
            <a:off x="360027" y="13239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Counting</a:t>
            </a:r>
            <a:endParaRPr/>
          </a:p>
        </p:txBody>
      </p:sp>
      <p:sp>
        <p:nvSpPr>
          <p:cNvPr id="137" name="Google Shape;137;p13"/>
          <p:cNvSpPr txBox="1"/>
          <p:nvPr>
            <p:ph idx="1" type="body"/>
          </p:nvPr>
        </p:nvSpPr>
        <p:spPr>
          <a:xfrm>
            <a:off x="676014" y="1027906"/>
            <a:ext cx="5257800" cy="25290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GB" sz="1800"/>
              <a:t>FeatureCounts part of subread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GB" sz="1800"/>
              <a:t>a software program developed for counting reads to genomic features such as genes, exons, promoters and genomic bins.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GB" sz="1600"/>
              <a:t>~20x faster (than HTseq)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GB" sz="1600"/>
              <a:t>More definitive on ambiguities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GB" sz="1600"/>
              <a:t>Better with paired end data (use  -p --countReadPairs)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GB" sz="1600" u="sng">
                <a:solidFill>
                  <a:schemeClr val="hlink"/>
                </a:solidFill>
                <a:hlinkClick r:id="rId3"/>
              </a:rPr>
              <a:t>http://subread.sourceforge.net/</a:t>
            </a:r>
            <a:endParaRPr sz="1600"/>
          </a:p>
        </p:txBody>
      </p:sp>
      <p:pic>
        <p:nvPicPr>
          <p:cNvPr id="138" name="Google Shape;13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58187" y="1408760"/>
            <a:ext cx="5308443" cy="4768203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3"/>
          <p:cNvSpPr txBox="1"/>
          <p:nvPr/>
        </p:nvSpPr>
        <p:spPr>
          <a:xfrm>
            <a:off x="8444204" y="989045"/>
            <a:ext cx="73289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Htseq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0" name="Google Shape;140;p13"/>
          <p:cNvPicPr preferRelativeResize="0"/>
          <p:nvPr/>
        </p:nvPicPr>
        <p:blipFill rotWithShape="1">
          <a:blip r:embed="rId5">
            <a:alphaModFix/>
          </a:blip>
          <a:srcRect b="8868" l="18578" r="3120" t="11253"/>
          <a:stretch/>
        </p:blipFill>
        <p:spPr>
          <a:xfrm>
            <a:off x="288023" y="3392903"/>
            <a:ext cx="5807977" cy="3332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Pseudo-alignment with Salmon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81328"/>
            <a:ext cx="59436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600" b="1">
                <a:solidFill>
                  <a:srgbClr val="1F4E79"/>
                </a:solidFill>
                <a:latin typeface="Calibri"/>
              </a:rPr>
              <a:t>Map to the transcriptome, not the genome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59436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50">
                <a:solidFill>
                  <a:srgbClr val="333333"/>
                </a:solidFill>
                <a:latin typeface="Calibri"/>
              </a:rPr>
              <a:t>•  No genome alignment and no BAM — quantifies in one fast, low-memory step</a:t>
            </a:r>
          </a:p>
          <a:p>
            <a:pPr>
              <a:spcAft>
                <a:spcPts val="900"/>
              </a:spcAft>
            </a:pPr>
            <a:r>
              <a:rPr sz="1450">
                <a:solidFill>
                  <a:srgbClr val="333333"/>
                </a:solidFill>
                <a:latin typeface="Calibri"/>
              </a:rPr>
              <a:t>•  Handles multi-mapping reads and isoforms more gracefully</a:t>
            </a:r>
          </a:p>
          <a:p>
            <a:pPr>
              <a:spcAft>
                <a:spcPts val="900"/>
              </a:spcAft>
            </a:pPr>
            <a:r>
              <a:rPr sz="1450">
                <a:solidFill>
                  <a:srgbClr val="333333"/>
                </a:solidFill>
                <a:latin typeface="Calibri"/>
              </a:rPr>
              <a:t>•  Builds the index once from the transcriptome (cDNA) fasta</a:t>
            </a:r>
          </a:p>
          <a:p>
            <a:pPr>
              <a:spcAft>
                <a:spcPts val="900"/>
              </a:spcAft>
            </a:pPr>
            <a:r>
              <a:rPr sz="1450">
                <a:solidFill>
                  <a:srgbClr val="333333"/>
                </a:solidFill>
                <a:latin typeface="Calibri"/>
              </a:rPr>
              <a:t>•  Output: per-transcript estimates (quant.sf)</a:t>
            </a:r>
          </a:p>
          <a:p>
            <a:pPr>
              <a:spcAft>
                <a:spcPts val="900"/>
              </a:spcAft>
            </a:pPr>
            <a:r>
              <a:rPr sz="1450">
                <a:solidFill>
                  <a:srgbClr val="333333"/>
                </a:solidFill>
                <a:latin typeface="Calibri"/>
              </a:rPr>
              <a:t>•  Summarise to genes with tximport, then straight into DESeq2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617720"/>
            <a:ext cx="6035040" cy="777240"/>
          </a:xfrm>
          <a:prstGeom prst="round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/>
          <a:lstStyle/>
          <a:p>
            <a:pPr algn="ctr"/>
            <a:r>
              <a:rPr sz="1100">
                <a:solidFill>
                  <a:srgbClr val="EAF2F0"/>
                </a:solidFill>
                <a:latin typeface="Consolas"/>
              </a:rPr>
              <a:t>salmon quant -i index -l A -1 R1.fq.gz -2 R2.fq.gz --gcBias -o out/</a:t>
            </a:r>
          </a:p>
        </p:txBody>
      </p:sp>
      <p:sp>
        <p:nvSpPr>
          <p:cNvPr id="6" name="Rectangle 5"/>
          <p:cNvSpPr/>
          <p:nvPr/>
        </p:nvSpPr>
        <p:spPr>
          <a:xfrm>
            <a:off x="6720840" y="1481328"/>
            <a:ext cx="493776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When to use which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20840" y="1993392"/>
            <a:ext cx="4937760" cy="1463040"/>
          </a:xfrm>
          <a:prstGeom prst="roundRect">
            <a:avLst/>
          </a:prstGeom>
          <a:solidFill>
            <a:srgbClr val="D7E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/>
          <a:lstStyle/>
          <a:p>
            <a:pPr algn="l"/>
            <a:r>
              <a:rPr sz="1350" b="1">
                <a:solidFill>
                  <a:srgbClr val="1F4E79"/>
                </a:solidFill>
                <a:latin typeface="Calibri"/>
              </a:rPr>
              <a:t>Pseudo-align — Salmon / kallisto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Gene / transcript quantification. The right default for most differential-expression studies.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3611880"/>
            <a:ext cx="4937760" cy="1463040"/>
          </a:xfrm>
          <a:prstGeom prst="roundRect">
            <a:avLst/>
          </a:prstGeom>
          <a:solidFill>
            <a:srgbClr val="F7D5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/>
          <a:lstStyle/>
          <a:p>
            <a:pPr algn="l"/>
            <a:r>
              <a:rPr sz="1350" b="1">
                <a:solidFill>
                  <a:srgbClr val="1F4E79"/>
                </a:solidFill>
                <a:latin typeface="Calibri"/>
              </a:rPr>
              <a:t>Full alignment — STAR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When you need the BAM itself: novel-junction discovery, variant calling, coverage tracks.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4"/>
          <p:cNvSpPr txBox="1"/>
          <p:nvPr>
            <p:ph type="title"/>
          </p:nvPr>
        </p:nvSpPr>
        <p:spPr>
          <a:xfrm>
            <a:off x="250371" y="24071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Differential gene Analysis</a:t>
            </a:r>
            <a:endParaRPr/>
          </a:p>
        </p:txBody>
      </p:sp>
      <p:sp>
        <p:nvSpPr>
          <p:cNvPr id="146" name="Google Shape;146;p14"/>
          <p:cNvSpPr txBox="1"/>
          <p:nvPr>
            <p:ph idx="1" type="body"/>
          </p:nvPr>
        </p:nvSpPr>
        <p:spPr>
          <a:xfrm>
            <a:off x="272143" y="1527045"/>
            <a:ext cx="5823857" cy="466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rPr b="1" i="0" lang="en-GB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Deseq2 vs edgeR 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9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🞆"/>
            </a:pP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Both do the same: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9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🞆"/>
            </a:pPr>
            <a:r>
              <a:rPr b="0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T-tests / Volcano plots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9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🞆"/>
            </a:pPr>
            <a:r>
              <a:rPr b="0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Log2(fold change) vs mean count (MA plots /FC plots)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9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🞆"/>
            </a:pPr>
            <a:r>
              <a:rPr b="0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Dendrograms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9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🞆"/>
            </a:pPr>
            <a:r>
              <a:rPr b="0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Principal Component Analysis (PCA)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9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🞆"/>
            </a:pPr>
            <a:r>
              <a:rPr b="0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ANOVA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9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🞆"/>
            </a:pPr>
            <a:r>
              <a:rPr b="0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Multiple Sample correction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9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🞆"/>
            </a:pPr>
            <a:r>
              <a:rPr b="0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Hierarchical Cluster Analysis</a:t>
            </a:r>
            <a:endParaRPr/>
          </a:p>
          <a:p>
            <a:pPr indent="-228600" lvl="0" marL="342900" rtl="0" algn="l">
              <a:lnSpc>
                <a:spcPct val="80000"/>
              </a:lnSpc>
              <a:spcBef>
                <a:spcPts val="9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342900" rtl="0" algn="l">
              <a:lnSpc>
                <a:spcPct val="80000"/>
              </a:lnSpc>
              <a:spcBef>
                <a:spcPts val="9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132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Noto Sans Symbols"/>
              <a:buNone/>
            </a:pPr>
            <a:r>
              <a:rPr b="1" i="0" lang="en-GB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More next time!</a:t>
            </a:r>
            <a:endParaRPr/>
          </a:p>
        </p:txBody>
      </p:sp>
      <p:pic>
        <p:nvPicPr>
          <p:cNvPr id="147" name="Google Shape;147;p14"/>
          <p:cNvPicPr preferRelativeResize="0"/>
          <p:nvPr/>
        </p:nvPicPr>
        <p:blipFill rotWithShape="1">
          <a:blip r:embed="rId3">
            <a:alphaModFix/>
          </a:blip>
          <a:srcRect b="38937" l="0" r="0" t="0"/>
          <a:stretch/>
        </p:blipFill>
        <p:spPr>
          <a:xfrm>
            <a:off x="7406413" y="289237"/>
            <a:ext cx="4665968" cy="217535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pic>
      <p:pic>
        <p:nvPicPr>
          <p:cNvPr id="148" name="Google Shape;14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00093" y="2613876"/>
            <a:ext cx="3678608" cy="4124713"/>
          </a:xfrm>
          <a:prstGeom prst="rect">
            <a:avLst/>
          </a:prstGeom>
          <a:solidFill>
            <a:schemeClr val="dk1"/>
          </a:solidFill>
          <a:ln>
            <a:noFill/>
          </a:ln>
        </p:spPr>
      </p:pic>
      <p:pic>
        <p:nvPicPr>
          <p:cNvPr id="149" name="Google Shape;14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08171" y="4716390"/>
            <a:ext cx="2095196" cy="20951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19212" y="2621194"/>
            <a:ext cx="2095196" cy="2095196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